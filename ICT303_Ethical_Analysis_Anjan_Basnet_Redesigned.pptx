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bf4b1af38a4335" /><Relationship Type="http://schemas.openxmlformats.org/officeDocument/2006/relationships/extended-properties" Target="/docProps/app.xml" Id="Rc6e87be9582a49f6" /><Relationship Type="http://schemas.openxmlformats.org/officeDocument/2006/relationships/officeDocument" Target="/ppt/presentation.xml" Id="R8e4d3494a6d948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e9d05c75624b6e"/>
  </p:sldMasterIdLst>
  <p:notesMasterIdLst>
    <p:notesMasterId xmlns:r="http://schemas.openxmlformats.org/officeDocument/2006/relationships" r:id="R337760acf4054d25"/>
  </p:notesMasterIdLst>
  <p:sldIdLst>
    <p:sldId xmlns:r="http://schemas.openxmlformats.org/officeDocument/2006/relationships" id="256" r:id="Ref5d9e2ebba84701"/>
    <p:sldId xmlns:r="http://schemas.openxmlformats.org/officeDocument/2006/relationships" id="257" r:id="R5105ba1838ec4e3b"/>
    <p:sldId xmlns:r="http://schemas.openxmlformats.org/officeDocument/2006/relationships" id="258" r:id="Ra20edb00f3874b68"/>
    <p:sldId xmlns:r="http://schemas.openxmlformats.org/officeDocument/2006/relationships" id="259" r:id="R764451bbfa014279"/>
    <p:sldId xmlns:r="http://schemas.openxmlformats.org/officeDocument/2006/relationships" id="260" r:id="R16ceb4ab26614f8f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7668cf43754945" /><Relationship Type="http://schemas.openxmlformats.org/officeDocument/2006/relationships/slideMaster" Target="/ppt/slideMasters/slideMaster1.xml" Id="R21e9d05c75624b6e" /><Relationship Type="http://schemas.openxmlformats.org/officeDocument/2006/relationships/notesMaster" Target="/ppt/notesMasters/notesMaster1.xml" Id="R337760acf4054d25" /><Relationship Type="http://schemas.openxmlformats.org/officeDocument/2006/relationships/presProps" Target="/ppt/presProps.xml" Id="R9b8ba646a6e64689" /><Relationship Type="http://schemas.openxmlformats.org/officeDocument/2006/relationships/viewProps" Target="/ppt/viewProps.xml" Id="Ra69efd829fa245c8" /><Relationship Type="http://schemas.openxmlformats.org/officeDocument/2006/relationships/tableStyles" Target="/ppt/tableStyles.xml" Id="R304cc7a8c90841ab" /><Relationship Type="http://schemas.openxmlformats.org/officeDocument/2006/relationships/slide" Target="/ppt/slides/slide1.xml" Id="Ref5d9e2ebba84701" /><Relationship Type="http://schemas.openxmlformats.org/officeDocument/2006/relationships/slide" Target="/ppt/slides/slide2.xml" Id="R5105ba1838ec4e3b" /><Relationship Type="http://schemas.openxmlformats.org/officeDocument/2006/relationships/slide" Target="/ppt/slides/slide3.xml" Id="Ra20edb00f3874b68" /><Relationship Type="http://schemas.openxmlformats.org/officeDocument/2006/relationships/slide" Target="/ppt/slides/slide4.xml" Id="R764451bbfa014279" /><Relationship Type="http://schemas.openxmlformats.org/officeDocument/2006/relationships/slide" Target="/ppt/slides/slide5.xml" Id="R16ceb4ab26614f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4da28a56c942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082c1f67674694" /><Relationship Type="http://schemas.openxmlformats.org/officeDocument/2006/relationships/notesMaster" Target="/ppt/notesMasters/notesMaster1.xml" Id="R4c433db81b5a4e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ff35c351b54daf" /><Relationship Type="http://schemas.openxmlformats.org/officeDocument/2006/relationships/notesMaster" Target="/ppt/notesMasters/notesMaster1.xml" Id="R37bf7a73213343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341c50d442442f" /><Relationship Type="http://schemas.openxmlformats.org/officeDocument/2006/relationships/notesMaster" Target="/ppt/notesMasters/notesMaster1.xml" Id="Rea0d2f47a4a547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ec0439cb9a4028" /><Relationship Type="http://schemas.openxmlformats.org/officeDocument/2006/relationships/notesMaster" Target="/ppt/notesMasters/notesMaster1.xml" Id="Rb399c6ce833c49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b9752639704943" /><Relationship Type="http://schemas.openxmlformats.org/officeDocument/2006/relationships/notesMaster" Target="/ppt/notesMasters/notesMaster1.xml" Id="R114160b181c549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topic as a short ethical analysis of two practical ICT cases: chatbot disclosure and the sale of mobile app customer information. Mention that the report uses eight ethical theories in total.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issue is not whether organisations can use automation. The issue is whether they should tell customers. Apply each theory briefly and conclude that disclosure is ethically stronger.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data flow from the customer to the app, then to the company and advertisers. The ethical problem is not advertising itself; it is selling identifiable data without clear consent.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links both questions. For the chatbot issue, the theories mostly point in the same direction. For data selling, the theories show a balance, but informed consent is still the strongest ethical response.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saying that responsible ICT practice is not only about what technology can do. It is about transparency, consent, privacy and trust. Invite questions.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26d17059db454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e6b7ed5760490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fda312d7264781" /><Relationship Type="http://schemas.openxmlformats.org/officeDocument/2006/relationships/slideLayout" Target="/ppt/slideLayouts/slideLayout1.xml" Id="R96f20105d6094bfe" /><Relationship Type="http://schemas.openxmlformats.org/officeDocument/2006/relationships/slideLayout" Target="/ppt/slideLayouts/slideLayout2.xml" Id="R0cb75e16e465410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f20105d6094bfe"/>
    <p:sldLayoutId xmlns:r="http://schemas.openxmlformats.org/officeDocument/2006/relationships" id="2147483650" r:id="R0cb75e16e4654104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36d7498ebf42f8" /><Relationship Type="http://schemas.openxmlformats.org/officeDocument/2006/relationships/notesSlide" Target="/ppt/notesSlides/notesSlide1.xml" Id="Rbdf8fdf51e0d48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eaad66a3b84362" /><Relationship Type="http://schemas.openxmlformats.org/officeDocument/2006/relationships/notesSlide" Target="/ppt/notesSlides/notesSlide2.xml" Id="R96350177832642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e4e35a275649c1" /><Relationship Type="http://schemas.openxmlformats.org/officeDocument/2006/relationships/notesSlide" Target="/ppt/notesSlides/notesSlide3.xml" Id="R89f359e409b244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72a75d43024989" /><Relationship Type="http://schemas.openxmlformats.org/officeDocument/2006/relationships/notesSlide" Target="/ppt/notesSlides/notesSlide4.xml" Id="Rdb5f81443a834b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f44e17182c45a8" /><Relationship Type="http://schemas.openxmlformats.org/officeDocument/2006/relationships/notesSlide" Target="/ppt/notesSlides/notesSlide5.xml" Id="R4eebd0da8f5148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E7C923-1442-4CF2-ACE8-5E7CADAB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F7F6F2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5025E00-2338-441B-9B67-8B53CB32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1792"/>
            <a:ext cx="1143000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6213E"/>
          </a:solidFill>
          <a:ln xmlns:a="http://schemas.openxmlformats.org/drawingml/2006/main" w="9525">
            <a:solidFill>
              <a:srgbClr val="16213E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498D11C-3810-467F-BBAB-70178709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690372"/>
            <a:ext cx="93268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5" b="1">
                <a:solidFill>
                  <a:srgbClr val="FFFFFF"/>
                </a:solidFill>
              </a:rPr>
              <a:t>ASSESSMENT 2</a:t>
            </a:r>
            <a:endParaRPr sz="7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DD468A2-D4B1-48A0-95FC-271D8E33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15568"/>
            <a:ext cx="71323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900" b="1">
                <a:solidFill>
                  <a:srgbClr val="16213E"/>
                </a:solidFill>
              </a:rPr>
              <a:t>Technology, Ethics &amp; Trust</a:t>
            </a:r>
            <a:endParaRPr sz="3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A0D9F29-4C91-48CB-91F8-425105E9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088"/>
            <a:ext cx="6217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647184"/>
                </a:solidFill>
              </a:rPr>
              <a:t>Two questions. Eight theories. One central issue: trust.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3F5991F-CDAF-4162-AA9A-04C93658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170432"/>
            <a:ext cx="8686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400">
                <a:solidFill>
                  <a:srgbClr val="000000"/>
                </a:solidFill>
              </a:rPr>
              <a:t>🤖</a:t>
            </a:r>
            <a:endParaRPr sz="5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5854F2B-BC0B-4DE2-8EE3-5A86CB02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874520"/>
            <a:ext cx="8686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400">
                <a:solidFill>
                  <a:srgbClr val="000000"/>
                </a:solidFill>
              </a:rPr>
              <a:t>📱</a:t>
            </a:r>
            <a:endParaRPr sz="54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02F288B-E1E3-4107-A894-BAB72EF6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8920"/>
            <a:ext cx="507492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A1A6A3E-F743-4968-9CCF-D4285929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962656"/>
            <a:ext cx="38404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>
                <a:solidFill>
                  <a:srgbClr val="000000"/>
                </a:solidFill>
              </a:rPr>
              <a:t>🤖</a:t>
            </a:r>
            <a:endParaRPr sz="17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124A532-8FA8-49D8-AE90-3D959284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2962656"/>
            <a:ext cx="42153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25" b="1">
                <a:solidFill>
                  <a:srgbClr val="16213E"/>
                </a:solidFill>
              </a:rPr>
              <a:t>AI customer service</a:t>
            </a:r>
            <a:endParaRPr sz="11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3C13CE4-FE1F-464F-A88B-92D30D7A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3282696"/>
            <a:ext cx="4215384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5">
                <a:solidFill>
                  <a:srgbClr val="647184"/>
                </a:solidFill>
              </a:rPr>
              <a:t>Should customers know when they are speaking with an automated system?</a:t>
            </a:r>
            <a:endParaRPr sz="8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68DE148-52C3-4289-8F24-F70F9D85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7640"/>
            <a:ext cx="507492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18E16B0-1B20-4611-84A0-902AA708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151376"/>
            <a:ext cx="38404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>
                <a:solidFill>
                  <a:srgbClr val="000000"/>
                </a:solidFill>
              </a:rPr>
              <a:t>📱</a:t>
            </a:r>
            <a:endParaRPr sz="17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6B42F60-CC62-4A41-904D-CEBD3E3E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4151376"/>
            <a:ext cx="42153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25" b="1">
                <a:solidFill>
                  <a:srgbClr val="16213E"/>
                </a:solidFill>
              </a:rPr>
              <a:t>Customer data</a:t>
            </a:r>
            <a:endParaRPr sz="11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1848A4E-0F87-4812-BC74-ABFC1B2A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4471416"/>
            <a:ext cx="4215384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5">
                <a:solidFill>
                  <a:srgbClr val="647184"/>
                </a:solidFill>
              </a:rPr>
              <a:t>Should companies be allowed to sell mobile app information to advertisers?</a:t>
            </a:r>
            <a:endParaRPr sz="8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F6336CA-7AE8-4001-9239-42915D60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703320"/>
            <a:ext cx="1417320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DCEFF5"/>
          </a:solidFill>
          <a:ln xmlns:a="http://schemas.openxmlformats.org/drawingml/2006/main" w="9525">
            <a:solidFill>
              <a:srgbClr val="DCEFF5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2533AE7-F6D8-46EB-B8D9-2CAEA87C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790188"/>
            <a:ext cx="127101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16213E"/>
                </a:solidFill>
              </a:rPr>
              <a:t>Transparency</a:t>
            </a:r>
            <a:endParaRPr sz="82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6152E20-D33C-4D03-8E71-C455C31E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03320"/>
            <a:ext cx="1097280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DDF4EC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F7325DF-1804-43F9-89AD-032A35A1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3790188"/>
            <a:ext cx="95097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16213E"/>
                </a:solidFill>
              </a:rPr>
              <a:t>Consent</a:t>
            </a:r>
            <a:endParaRPr sz="82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25DAAC10-3BB3-4BB6-A7DB-5CB6421E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703320"/>
            <a:ext cx="1005840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7DDE4"/>
          </a:solidFill>
          <a:ln xmlns:a="http://schemas.openxmlformats.org/drawingml/2006/main" w="9525">
            <a:solidFill>
              <a:srgbClr val="F7DDE4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288CC1-F094-4687-8E78-BE2BEA8E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472" y="3790188"/>
            <a:ext cx="85953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16213E"/>
                </a:solidFill>
              </a:rPr>
              <a:t>Privacy</a:t>
            </a:r>
            <a:endParaRPr sz="82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548E4EEE-1BA1-4874-9EA1-A1E394FC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3703320"/>
            <a:ext cx="822960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E7B2"/>
          </a:solidFill>
          <a:ln xmlns:a="http://schemas.openxmlformats.org/drawingml/2006/main" w="9525">
            <a:solidFill>
              <a:srgbClr val="F5E7B2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3F8490C-FE95-4CE2-8558-EC5D73DA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472" y="3790188"/>
            <a:ext cx="67665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16213E"/>
                </a:solidFill>
              </a:rPr>
              <a:t>Trust</a:t>
            </a:r>
            <a:endParaRPr sz="82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FB166E5-47C2-4AD6-8FEF-04DC5809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788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8B7A"/>
                </a:solidFill>
              </a:rPr>
              <a:t>Anjan Basnet</a:t>
            </a:r>
            <a:endParaRPr sz="10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7547911-0594-4489-9645-30F33B2E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92240"/>
            <a:ext cx="4663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184"/>
                </a:solidFill>
                <a:latin typeface="Aptos"/>
                <a:ea typeface="Aptos"/>
                <a:cs typeface="Aptos"/>
              </a:rPr>
              <a:t>ICT303 Professional Ethics in Computing</a:t>
            </a:r>
            <a:endParaRPr sz="7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9137EA5-1C92-446A-89D1-7AFE73DA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45936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F8B7A"/>
                </a:solidFill>
                <a:latin typeface="Aptos Display"/>
                <a:ea typeface="Aptos Display"/>
                <a:cs typeface="Aptos Display"/>
              </a:rPr>
              <a:t>01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7567973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2FD04DB-406D-4C68-A9CF-993020AC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3840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8B7A"/>
                </a:solidFill>
              </a:rPr>
              <a:t>QUESTION 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740AEF9-0DFB-4805-B982-DBC6C89B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22376"/>
            <a:ext cx="80467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50" b="1">
                <a:solidFill>
                  <a:srgbClr val="16213E"/>
                </a:solidFill>
              </a:rPr>
              <a:t>Should customers know it is AI?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9042AAD-4B77-4F5E-A63C-AA6351E2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216152"/>
            <a:ext cx="7955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647184"/>
                </a:solidFill>
              </a:rPr>
              <a:t>Automated customer service can feel human, so disclosure matters.</a:t>
            </a:r>
            <a:endParaRPr sz="123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97684F1-58CB-4698-B56D-D7124F48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28800"/>
            <a:ext cx="2926080" cy="361188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16213E"/>
          </a:solidFill>
          <a:ln xmlns:a="http://schemas.openxmlformats.org/drawingml/2006/main" w="9525">
            <a:solidFill>
              <a:srgbClr val="16213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3023AB8-4D1F-4AE5-B7E3-9E1BD91F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148840"/>
            <a:ext cx="822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500">
                <a:solidFill>
                  <a:srgbClr val="000000"/>
                </a:solidFill>
              </a:rPr>
              <a:t>🤖</a:t>
            </a:r>
            <a:endParaRPr sz="4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1193999-2860-4C27-AB47-F4D604FB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063240"/>
            <a:ext cx="2194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Clear disclosure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D08F7DE-3E4C-4B0A-AF8C-5AD0311F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566160"/>
            <a:ext cx="2011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FFFFFF"/>
                </a:solidFill>
              </a:rPr>
              <a:t>“I am an automated assistant.”</a:t>
            </a:r>
            <a:endParaRPr sz="12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9710038-38B7-4926-BFD8-D8BE7436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434840"/>
            <a:ext cx="187452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C5DA16A-DB68-4755-B21C-8541CC69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645152"/>
            <a:ext cx="21488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FFFFF"/>
                </a:solidFill>
              </a:rPr>
              <a:t>Automation is acceptable, but hiding automation weakens trust and informed choice.</a:t>
            </a:r>
            <a:endParaRPr sz="9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F06DE51-8F00-4ED0-9E84-E65BD307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196596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6213E"/>
                </a:solidFill>
              </a:rPr>
              <a:t>Kantianism</a:t>
            </a:r>
            <a:endParaRPr sz="14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EA590D6-737D-4494-84B5-B6BB1F9B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350008"/>
            <a:ext cx="621792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4BB0A28-03FC-4E4D-86FA-3AE6CC5D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532888"/>
            <a:ext cx="27889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47184"/>
                </a:solidFill>
              </a:rPr>
              <a:t>Honesty is a duty; customers should not be misled.</a:t>
            </a:r>
            <a:endParaRPr sz="102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58C9A1F-2ADE-4893-883A-B71E6524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196596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6213E"/>
                </a:solidFill>
              </a:rPr>
              <a:t>Rule Utilitarianism</a:t>
            </a:r>
            <a:endParaRPr sz="14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E9885CB-8834-42E7-BD6C-08066C4A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350008"/>
            <a:ext cx="621792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CB4A95B-83EB-4104-8889-06485A40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532888"/>
            <a:ext cx="27889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47184"/>
                </a:solidFill>
              </a:rPr>
              <a:t>A disclosure rule builds long-term trust.</a:t>
            </a:r>
            <a:endParaRPr sz="102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48DC415-E5F1-4E7E-8C14-0ED234C7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70332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6213E"/>
                </a:solidFill>
              </a:rPr>
              <a:t>Social Contract</a:t>
            </a:r>
            <a:endParaRPr sz="14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5DD73373-00CB-4A6E-839F-2F7B9FCD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087368"/>
            <a:ext cx="621792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B7BF320-E1DD-474C-8C38-B2019591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270248"/>
            <a:ext cx="27889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47184"/>
                </a:solidFill>
              </a:rPr>
              <a:t>Fair service relationships need informed choice.</a:t>
            </a:r>
            <a:endParaRPr sz="102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ABF0924-952A-4687-91F7-8E6A1F08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70332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6213E"/>
                </a:solidFill>
              </a:rPr>
              <a:t>Virtue Ethics</a:t>
            </a:r>
            <a:endParaRPr sz="14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4B93301-A546-4537-A946-ECFFC8FF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4087368"/>
            <a:ext cx="621792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7B288A7-6C59-4DFF-A482-6398ED80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4270248"/>
            <a:ext cx="27889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47184"/>
                </a:solidFill>
              </a:rPr>
              <a:t>Good organisations act openly and honestly.</a:t>
            </a:r>
            <a:endParaRPr sz="102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F5B2973-4011-43BA-8ABD-27897AD6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5504688"/>
            <a:ext cx="635508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9AD7C8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CB28504-CB16-4142-BD72-FDC80043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5669280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75" b="1">
                <a:solidFill>
                  <a:srgbClr val="0F8B7A"/>
                </a:solidFill>
              </a:rPr>
              <a:t>Answer: Yes, disclose it.</a:t>
            </a:r>
            <a:endParaRPr sz="1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4872A32-C603-4C67-97EB-67979305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92240"/>
            <a:ext cx="4663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184"/>
                </a:solidFill>
                <a:latin typeface="Aptos"/>
                <a:ea typeface="Aptos"/>
                <a:cs typeface="Aptos"/>
              </a:rPr>
              <a:t>ICT303 Professional Ethics in Computing</a:t>
            </a:r>
            <a:endParaRPr sz="7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44E0DD6-8A73-42E2-8289-E594A036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45936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F8B7A"/>
                </a:solidFill>
                <a:latin typeface="Aptos Display"/>
                <a:ea typeface="Aptos Display"/>
                <a:cs typeface="Aptos Display"/>
              </a:rPr>
              <a:t>02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539327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D67978B-5CA2-48AD-A9D6-A54775B6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3840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8B7A"/>
                </a:solidFill>
              </a:rPr>
              <a:t>QUESTION 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7C0132E-38B1-4A86-8D28-B741C8D0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22376"/>
            <a:ext cx="80467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50" b="1">
                <a:solidFill>
                  <a:srgbClr val="16213E"/>
                </a:solidFill>
              </a:rPr>
              <a:t>Should customer data be sold?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0AFFD66-AFA4-47CE-91CB-8B5DA564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216152"/>
            <a:ext cx="7955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647184"/>
                </a:solidFill>
              </a:rPr>
              <a:t>The main ethical issue is selling identifiable data without clear permission.</a:t>
            </a:r>
            <a:endParaRPr sz="123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55D24AE-1B5F-4B82-9D61-22592C16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57400"/>
            <a:ext cx="1417320" cy="96012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E4F88AC-DB0A-4719-A61F-FC94F3CF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176272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>
                <a:solidFill>
                  <a:srgbClr val="000000"/>
                </a:solidFill>
              </a:rPr>
              <a:t>👤</a:t>
            </a:r>
            <a:endParaRPr sz="23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A183ABD-751F-4612-8E3D-188AE530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688336"/>
            <a:ext cx="12344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F172A"/>
                </a:solidFill>
              </a:rPr>
              <a:t>Customer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8B4E0F0-5D3E-4735-8434-609BD8FA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584" y="2532888"/>
            <a:ext cx="393192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EBA4844-5DB0-4D7A-AA08-28C2D1EF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057400"/>
            <a:ext cx="1417320" cy="96012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60D26E2-340E-46A3-941F-79CD12B6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176272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>
                <a:solidFill>
                  <a:srgbClr val="000000"/>
                </a:solidFill>
              </a:rPr>
              <a:t>📱</a:t>
            </a:r>
            <a:endParaRPr sz="2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B09F783-E093-4280-A039-1530A8CB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688336"/>
            <a:ext cx="12344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F172A"/>
                </a:solidFill>
              </a:rPr>
              <a:t>Mobile app</a:t>
            </a:r>
            <a:endParaRPr sz="8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1D0A93C-F286-4A06-ADBD-331C7DDF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2532888"/>
            <a:ext cx="393192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  <a:headEnd type="none"/>
            <a:tailEnd type="triangl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86FA56D-523C-48A5-934C-C2E1BE07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057400"/>
            <a:ext cx="1417320" cy="96012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CEFF5"/>
          </a:solidFill>
          <a:ln xmlns:a="http://schemas.openxmlformats.org/drawingml/2006/main" w="9525">
            <a:solidFill>
              <a:srgbClr val="DCEFF5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6021020-C736-449E-B091-3EAC045D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176272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>
                <a:solidFill>
                  <a:srgbClr val="000000"/>
                </a:solidFill>
              </a:rPr>
              <a:t>🏢</a:t>
            </a:r>
            <a:endParaRPr sz="23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2BA6631-86A5-4531-BF86-1112DF21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688336"/>
            <a:ext cx="12344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F172A"/>
                </a:solidFill>
              </a:rPr>
              <a:t>Company</a:t>
            </a:r>
            <a:endParaRPr sz="8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52DB196-AA56-4A3C-85AC-31514686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2532888"/>
            <a:ext cx="393192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  <a:headEnd type="none"/>
            <a:tailEnd type="triangle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29153491-3C39-42F5-89E9-A99387B8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057400"/>
            <a:ext cx="1417320" cy="96012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CEFF5"/>
          </a:solidFill>
          <a:ln xmlns:a="http://schemas.openxmlformats.org/drawingml/2006/main" w="9525">
            <a:solidFill>
              <a:srgbClr val="DCEFF5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0B2C85D-5912-4AD4-B3C9-820781B1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176272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>
                <a:solidFill>
                  <a:srgbClr val="000000"/>
                </a:solidFill>
              </a:rPr>
              <a:t>📢</a:t>
            </a:r>
            <a:endParaRPr sz="2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AB023D9-FD7E-4AD1-A137-B8E1572F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688336"/>
            <a:ext cx="12344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F172A"/>
                </a:solidFill>
              </a:rPr>
              <a:t>Advertisers</a:t>
            </a:r>
            <a:endParaRPr sz="8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1456835-A6DC-4ADA-B88F-09514C81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56232"/>
            <a:ext cx="192024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6213E"/>
          </a:solidFill>
          <a:ln xmlns:a="http://schemas.openxmlformats.org/drawingml/2006/main" w="9525">
            <a:solidFill>
              <a:srgbClr val="16213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7ABE8E9-F31D-4FCD-AD9A-1FE062E8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121408"/>
            <a:ext cx="1417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Best answer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CD12ED4-9D10-4358-A905-3E37EE05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8" y="2523744"/>
            <a:ext cx="1600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Opt-in consent</a:t>
            </a:r>
            <a:endParaRPr sz="15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01D823D-151B-46D8-8687-CA617E48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1143000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DCEFF5"/>
          </a:solidFill>
          <a:ln xmlns:a="http://schemas.openxmlformats.org/drawingml/2006/main" w="9525">
            <a:solidFill>
              <a:srgbClr val="DCEFF5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F604E91-9DE7-474B-8676-366B853C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607308"/>
            <a:ext cx="99669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16213E"/>
                </a:solidFill>
              </a:rPr>
              <a:t>Privacy</a:t>
            </a:r>
            <a:endParaRPr sz="82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0DACD8F-E96C-4019-96E6-3F3E6798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3520440"/>
            <a:ext cx="1143000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DDF4EC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76016D4-94FE-45D1-B527-E0BF5155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3607308"/>
            <a:ext cx="99669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16213E"/>
                </a:solidFill>
              </a:rPr>
              <a:t>Consent</a:t>
            </a:r>
            <a:endParaRPr sz="82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E98EE326-A82D-430A-88DE-7F2C7AB5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520440"/>
            <a:ext cx="1143000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7DDE4"/>
          </a:solidFill>
          <a:ln xmlns:a="http://schemas.openxmlformats.org/drawingml/2006/main" w="9525">
            <a:solidFill>
              <a:srgbClr val="F7DDE4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7C509D7-CC8E-4B06-83CD-7E1D17F5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607308"/>
            <a:ext cx="99669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16213E"/>
                </a:solidFill>
              </a:rPr>
              <a:t>Profiling</a:t>
            </a:r>
            <a:endParaRPr sz="82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DEC1B01-B395-41DF-868D-EB8BEF78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520440"/>
            <a:ext cx="1143000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E7B2"/>
          </a:solidFill>
          <a:ln xmlns:a="http://schemas.openxmlformats.org/drawingml/2006/main" w="9525">
            <a:solidFill>
              <a:srgbClr val="F5E7B2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AFA25FC-FB8D-4A70-9D5A-0D3338EE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3607308"/>
            <a:ext cx="99669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16213E"/>
                </a:solidFill>
              </a:rPr>
              <a:t>Trust loss</a:t>
            </a:r>
            <a:endParaRPr sz="82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977397AB-98B4-4A06-80A6-4BE78004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20440"/>
            <a:ext cx="1143000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5E1F5"/>
          </a:solidFill>
          <a:ln xmlns:a="http://schemas.openxmlformats.org/drawingml/2006/main" w="9525">
            <a:solidFill>
              <a:srgbClr val="E5E1F5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EEFD15E-E2CA-46EE-925F-B9E0318B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3607308"/>
            <a:ext cx="99669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16213E"/>
                </a:solidFill>
              </a:rPr>
              <a:t>Security risk</a:t>
            </a:r>
            <a:endParaRPr sz="82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F8FE086D-5891-453E-BAD0-3C3A1C5B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51960"/>
            <a:ext cx="1920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75" b="1">
                <a:solidFill>
                  <a:srgbClr val="16213E"/>
                </a:solidFill>
              </a:rPr>
              <a:t>Ethical Egoism</a:t>
            </a:r>
            <a:endParaRPr sz="115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6A5E57A8-422B-4CDA-AA5E-2BC5A94D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270248"/>
            <a:ext cx="2834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5">
                <a:solidFill>
                  <a:srgbClr val="647184"/>
                </a:solidFill>
              </a:rPr>
              <a:t>Profit now vs reputation later</a:t>
            </a:r>
            <a:endParaRPr sz="102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3F2BB09-E60D-496B-A8F6-2A08A159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4251960"/>
            <a:ext cx="1920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75" b="1">
                <a:solidFill>
                  <a:srgbClr val="16213E"/>
                </a:solidFill>
              </a:rPr>
              <a:t>Act Utilitarianism</a:t>
            </a:r>
            <a:endParaRPr sz="115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78F2BFA7-14EF-4DFF-B40E-00A52660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270248"/>
            <a:ext cx="2834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5">
                <a:solidFill>
                  <a:srgbClr val="647184"/>
                </a:solidFill>
              </a:rPr>
              <a:t>Ad benefits vs privacy harm</a:t>
            </a:r>
            <a:endParaRPr sz="102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4CF7AFF-63E5-459F-8321-069432F6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937760"/>
            <a:ext cx="1920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75" b="1">
                <a:solidFill>
                  <a:srgbClr val="16213E"/>
                </a:solidFill>
              </a:rPr>
              <a:t>Cultural Relativism</a:t>
            </a:r>
            <a:endParaRPr sz="115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151B705A-58EE-49BB-8440-276C63F4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956048"/>
            <a:ext cx="2834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5">
                <a:solidFill>
                  <a:srgbClr val="647184"/>
                </a:solidFill>
              </a:rPr>
              <a:t>Different societies, different norms</a:t>
            </a:r>
            <a:endParaRPr sz="102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478C8A2F-D69E-41E9-9901-C549EF27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4937760"/>
            <a:ext cx="1920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75" b="1">
                <a:solidFill>
                  <a:srgbClr val="16213E"/>
                </a:solidFill>
              </a:rPr>
              <a:t>Subjective Relativism</a:t>
            </a:r>
            <a:endParaRPr sz="115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E782F92C-6EF0-40EE-BE32-ADAF1E66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956048"/>
            <a:ext cx="2834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5">
                <a:solidFill>
                  <a:srgbClr val="647184"/>
                </a:solidFill>
              </a:rPr>
              <a:t>Different customers, different views</a:t>
            </a:r>
            <a:endParaRPr sz="102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5F5A7176-BCC2-44DF-90BE-DAEF10DC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92240"/>
            <a:ext cx="4663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184"/>
                </a:solidFill>
                <a:latin typeface="Aptos"/>
                <a:ea typeface="Aptos"/>
                <a:cs typeface="Aptos"/>
              </a:rPr>
              <a:t>ICT303 Professional Ethics in Computing</a:t>
            </a:r>
            <a:endParaRPr sz="75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96918A82-90D8-4781-9B9A-36C7A139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45936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F8B7A"/>
                </a:solidFill>
                <a:latin typeface="Aptos Display"/>
                <a:ea typeface="Aptos Display"/>
                <a:cs typeface="Aptos Display"/>
              </a:rPr>
              <a:t>03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9625837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3E1E849-C8EF-4231-9D54-1AFB25A6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3840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8B7A"/>
                </a:solidFill>
              </a:rPr>
              <a:t>WHAT THE THEORIES SHOW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0B56F90-D9FD-4AD1-B579-E0FCFA2C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22376"/>
            <a:ext cx="80467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50" b="1">
                <a:solidFill>
                  <a:srgbClr val="16213E"/>
                </a:solidFill>
              </a:rPr>
              <a:t>Two different issues. One shared message.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B0070A8-D301-48F5-9DBD-E58F9C80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216152"/>
            <a:ext cx="7955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647184"/>
                </a:solidFill>
              </a:rPr>
              <a:t>Trust depends on what users know and what they agree to.</a:t>
            </a:r>
            <a:endParaRPr sz="123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DACF64-5EB5-4284-9C52-576F8693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4800600" cy="292608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0B5675E-20ED-4074-B662-55A8C566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965960"/>
            <a:ext cx="4800600" cy="292608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B993DFC-5741-4731-AFEF-5CC5BD2B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304288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>
                <a:solidFill>
                  <a:srgbClr val="000000"/>
                </a:solidFill>
              </a:rPr>
              <a:t>🤖</a:t>
            </a:r>
            <a:endParaRPr sz="2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BF23FAD-0B45-4ED7-BEB0-7857ECC2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04288"/>
            <a:ext cx="3108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75" b="1">
                <a:solidFill>
                  <a:srgbClr val="16213E"/>
                </a:solidFill>
              </a:rPr>
              <a:t>Automated system disclosure</a:t>
            </a:r>
            <a:endParaRPr sz="14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5A04DA4-59AC-4852-A709-7A986EEB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871216"/>
            <a:ext cx="2926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50" b="1">
                <a:solidFill>
                  <a:srgbClr val="0F8B7A"/>
                </a:solidFill>
              </a:rPr>
              <a:t>Transparency wins</a:t>
            </a:r>
            <a:endParaRPr sz="2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CCA07C2-F17A-4B07-81B3-8FF7F2D1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93008"/>
            <a:ext cx="39776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75">
                <a:solidFill>
                  <a:srgbClr val="647184"/>
                </a:solidFill>
              </a:rPr>
              <a:t>All four theories point toward disclosure because customers need honesty, trust and informed choice.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F947B4A-5872-498D-842D-B9558BFD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304288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>
                <a:solidFill>
                  <a:srgbClr val="000000"/>
                </a:solidFill>
              </a:rPr>
              <a:t>📱</a:t>
            </a:r>
            <a:endParaRPr sz="2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1862EE9-2D98-415D-8F11-5DEF089E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648" y="2304288"/>
            <a:ext cx="3108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75" b="1">
                <a:solidFill>
                  <a:srgbClr val="16213E"/>
                </a:solidFill>
              </a:rPr>
              <a:t>Selling customer information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F16833F-401C-40BC-A23F-B559B1ED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871216"/>
            <a:ext cx="2926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50" b="1">
                <a:solidFill>
                  <a:srgbClr val="E76F51"/>
                </a:solidFill>
              </a:rPr>
              <a:t>Consent matters</a:t>
            </a:r>
            <a:endParaRPr sz="2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7528D1E-49B5-47D8-8D98-7B137828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493008"/>
            <a:ext cx="39776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75">
                <a:solidFill>
                  <a:srgbClr val="647184"/>
                </a:solidFill>
              </a:rPr>
              <a:t>Data sharing can create business value, but the concern becomes serious when customers are unaware.</a:t>
            </a:r>
            <a:endParaRPr sz="11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719944A-D6B3-4979-BD87-C5EEF7C2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5440680"/>
            <a:ext cx="832104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6213E"/>
          </a:solidFill>
          <a:ln xmlns:a="http://schemas.openxmlformats.org/drawingml/2006/main" w="9525">
            <a:solidFill>
              <a:srgbClr val="16213E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9CF473E-4129-4A28-BE8F-0278CD6A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5605272"/>
            <a:ext cx="7955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Common message: no trust without transparency.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BBA2566-B0B8-4D64-8383-7DE5C987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92240"/>
            <a:ext cx="4663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184"/>
                </a:solidFill>
                <a:latin typeface="Aptos"/>
                <a:ea typeface="Aptos"/>
                <a:cs typeface="Aptos"/>
              </a:rPr>
              <a:t>ICT303 Professional Ethics in Computing</a:t>
            </a:r>
            <a:endParaRPr sz="7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10AB54E-FD11-4126-8011-F48BD086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45936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F8B7A"/>
                </a:solidFill>
                <a:latin typeface="Aptos Display"/>
                <a:ea typeface="Aptos Display"/>
                <a:cs typeface="Aptos Display"/>
              </a:rPr>
              <a:t>04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9211536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A190051-4D75-4BF3-8ABA-C3A72645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3840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8B7A"/>
                </a:solidFill>
              </a:rPr>
              <a:t>FINAL TAKEAWAY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BDDAF12-1554-4C0F-8814-D274AD4E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22376"/>
            <a:ext cx="80467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50" b="1">
                <a:solidFill>
                  <a:srgbClr val="16213E"/>
                </a:solidFill>
              </a:rPr>
              <a:t>Responsible ICT practice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99018C0-9ED1-4088-B336-0DA45A29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216152"/>
            <a:ext cx="7955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647184"/>
                </a:solidFill>
              </a:rPr>
              <a:t>Technology should be judged by how fairly it treats people.</a:t>
            </a:r>
            <a:endParaRPr sz="123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E8757E6-EADA-4013-9D67-B959BEF0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74520"/>
            <a:ext cx="4937760" cy="361188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16213E"/>
          </a:solidFill>
          <a:ln xmlns:a="http://schemas.openxmlformats.org/drawingml/2006/main" w="9525">
            <a:solidFill>
              <a:srgbClr val="16213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9D4FEA0-EAFE-4C33-AE98-D39D0465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0280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</a:rPr>
              <a:t>Final position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F5494CD-ABBA-4C4E-A501-E824C2BF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41148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8186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</a:rPr>
              <a:t>Organisations should clearly disclose automated systems and should not sell identifiable customer information without informed permission.</a:t>
            </a:r>
            <a:endParaRPr sz="17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BA5DF85-0262-427F-AE93-D5646E0C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60520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</a:rPr>
              <a:t>Transparency + consent + privacy + trust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77707E3-290F-4D86-90A9-A7C99EA7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65960"/>
            <a:ext cx="228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F8B7A"/>
                </a:solidFill>
              </a:rPr>
              <a:t>✓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95ABC33-E6EF-489D-8A31-7D9EB498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984248"/>
            <a:ext cx="4297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75">
                <a:solidFill>
                  <a:srgbClr val="16213E"/>
                </a:solidFill>
              </a:rPr>
              <a:t>Tell customers when AI is being used</a:t>
            </a:r>
            <a:endParaRPr sz="13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98CCB0-4B08-4CE3-ADD5-6DEA5FAE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624328"/>
            <a:ext cx="228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F8B7A"/>
                </a:solidFill>
              </a:rPr>
              <a:t>✓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5E5F900-8975-4679-BDB4-99B2A3A9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642616"/>
            <a:ext cx="4297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75">
                <a:solidFill>
                  <a:srgbClr val="16213E"/>
                </a:solidFill>
              </a:rPr>
              <a:t>Offer human assistance when necessary</a:t>
            </a:r>
            <a:endParaRPr sz="13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C0271C0-E9DE-4D75-87BE-B9EE8CF1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82696"/>
            <a:ext cx="228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F8B7A"/>
                </a:solidFill>
              </a:rPr>
              <a:t>✓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49CD132-ECE2-486F-B162-807D20DA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300984"/>
            <a:ext cx="4297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75">
                <a:solidFill>
                  <a:srgbClr val="16213E"/>
                </a:solidFill>
              </a:rPr>
              <a:t>Ask permission before sharing data</a:t>
            </a:r>
            <a:endParaRPr sz="13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A18D530-494B-491A-B5AE-3892B09B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941064"/>
            <a:ext cx="228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F8B7A"/>
                </a:solidFill>
              </a:rPr>
              <a:t>✓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E5C2AB2-E86A-4DD0-BB97-EDFB1D93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959352"/>
            <a:ext cx="4297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75">
                <a:solidFill>
                  <a:srgbClr val="16213E"/>
                </a:solidFill>
              </a:rPr>
              <a:t>Collect only necessary information</a:t>
            </a:r>
            <a:endParaRPr sz="13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46B90D1-5D56-4D6F-86A1-BF79BBB3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599432"/>
            <a:ext cx="228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F8B7A"/>
                </a:solidFill>
              </a:rPr>
              <a:t>✓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11CEBA6-F1FF-4467-A7FF-DB1EEAF6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617720"/>
            <a:ext cx="4297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75">
                <a:solidFill>
                  <a:srgbClr val="16213E"/>
                </a:solidFill>
              </a:rPr>
              <a:t>Keep privacy policies clear</a:t>
            </a:r>
            <a:endParaRPr sz="13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1354711-6F6F-4118-A6C1-3BF477F1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532120"/>
            <a:ext cx="438912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624E95F-4C98-4E74-A189-16973E56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742432"/>
            <a:ext cx="44805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184"/>
                </a:solidFill>
              </a:rPr>
              <a:t>Key sources: ACM, OAIC, Cheng et al., Mozafari et al., Ullah et al., van der Goot et al.</a:t>
            </a:r>
            <a:endParaRPr sz="8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D218B1E-4323-4B92-B5F6-A79EFD6A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92240"/>
            <a:ext cx="4663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184"/>
                </a:solidFill>
                <a:latin typeface="Aptos"/>
                <a:ea typeface="Aptos"/>
                <a:cs typeface="Aptos"/>
              </a:rPr>
              <a:t>ICT303 Professional Ethics in Computing</a:t>
            </a:r>
            <a:endParaRPr sz="7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8981968-A01F-47B0-8BBE-8EC31B79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45936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F8B7A"/>
                </a:solidFill>
                <a:latin typeface="Aptos Display"/>
                <a:ea typeface="Aptos Display"/>
                <a:cs typeface="Aptos Display"/>
              </a:rPr>
              <a:t>05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86999627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2026-08-16T11:02:46.8280000Z</dcterms:created>
  <dcterms:modified xsi:type="dcterms:W3CDTF">2026-08-16T11:02:46.8280000Z</dcterms:modified>
</coreProperties>
</file>